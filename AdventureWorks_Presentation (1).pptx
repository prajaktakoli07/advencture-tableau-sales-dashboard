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F5C8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</c:v>
                </c:pt>
                <c:pt idx="1">
                  <c:v>7076</c:v>
                </c:pt>
                <c:pt idx="2">
                  <c:v>5842</c:v>
                </c:pt>
                <c:pt idx="3">
                  <c:v>16352</c:v>
                </c:pt>
                <c:pt idx="4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BA-443A-A152-E6FE964025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D8F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E409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9B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570"/>
    </a:solidFill>
    <a:ln w="12700" cap="flat">
      <a:solidFill>
        <a:srgbClr val="2E409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3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682-45C3-804D-DC847E82FCFA}"/>
              </c:ext>
            </c:extLst>
          </c:dPt>
          <c:dPt>
            <c:idx val="1"/>
            <c:bubble3D val="0"/>
            <c:spPr>
              <a:solidFill>
                <a:srgbClr val="F5C8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82-45C3-804D-DC847E82FCFA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82-45C3-804D-DC847E82FCFA}"/>
              </c:ext>
            </c:extLst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82-45C3-804D-DC847E82FCF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682-45C3-804D-DC847E82FCF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682-45C3-804D-DC847E82FCFA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682-45C3-804D-DC847E82FCFA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682-45C3-804D-DC847E82FCF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5522</c:v>
                </c:pt>
                <c:pt idx="1">
                  <c:v>7090</c:v>
                </c:pt>
                <c:pt idx="2">
                  <c:v>7639</c:v>
                </c:pt>
                <c:pt idx="3">
                  <c:v>9108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682-45C3-804D-DC847E82FC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8D8F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4357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60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  |  2010 – 2014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310896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310896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3108960"/>
            <a:ext cx="1463040" cy="457200"/>
          </a:xfrm>
          <a:prstGeom prst="roundRect">
            <a:avLst>
              <a:gd name="adj" fmla="val 24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 algn="ctr">
              <a:buFont typeface="Arial" panose="020B0604020202020204" pitchFamily="34" charset="0"/>
              <a:buChar char="•"/>
            </a:pPr>
            <a:r>
              <a:rPr lang="en-US" sz="110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5 | Adabala Venkatesh Durga Sai | Prajakta Koli  | Shraddha </a:t>
            </a:r>
            <a:r>
              <a:rPr lang="en-US" sz="1100" b="1" dirty="0" err="1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Muneshwar</a:t>
            </a:r>
            <a:r>
              <a:rPr lang="en-US" sz="110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Rohit Yadav | Dasari Venkatesh</a:t>
            </a:r>
            <a:r>
              <a:rPr lang="en-US" sz="11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7315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Cycles is a large multinational manufacturing company that produces and sells metal and composite bicycles.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Headquarters: Bothell, Washington with 290 employees.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 North America, Europe &amp; Asia.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plant acquired in Mexico (2000s).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plant became the sole manufacturer for touring bicycles from 2001.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023360" cy="731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1755648"/>
            <a:ext cx="201168" cy="201168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market share by targeting best customers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92040" y="2267712"/>
            <a:ext cx="201168" cy="201168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product availability via an external website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2779776"/>
            <a:ext cx="201168" cy="201168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cost of sales through lower production costs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92040" y="3291840"/>
            <a:ext cx="201168" cy="201168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regional and product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3803904"/>
            <a:ext cx="201168" cy="201168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785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data-driven decision making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822960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the Adventure Works dataset using Excel, Power BI, and Tableau — building interactive dashboards and comparing how each tool handles data preparation, calculation, and visualization.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combine Fact Internet Sales tables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10312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Merging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relationships across 6 dimension tables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10312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194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44768" y="2194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44768" y="2651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amount, Production Cost, Profit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832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8328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Analysis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Quarter, Financial Calendar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38328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10128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1012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Charts: Bar, Line, Pie, Combo, Map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38328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3383280"/>
            <a:ext cx="54864" cy="109728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34747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144768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Creation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44768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across 3 tools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Used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508760"/>
            <a:ext cx="45720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4533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Internet Sales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465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sales transactions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1563624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5636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60,398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1627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8424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84248"/>
            <a:ext cx="45720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0208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Internet Sales New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2219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sales data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97480" y="2039112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0391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54,771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1031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459736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459736"/>
            <a:ext cx="45720" cy="43891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4963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69748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 &amp; cost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97480" y="2514600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97480" y="25146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25786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93522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935224"/>
            <a:ext cx="45720" cy="43891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971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DimCustomer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317296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97480" y="2990088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480" y="2990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18,484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30540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3410712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410712"/>
            <a:ext cx="45720" cy="43891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4472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DimProductSubCategory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3648456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sub-categories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3465576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346557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566160" y="352958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388620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3886200"/>
            <a:ext cx="45720" cy="43891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92277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DimSalesTerritory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1239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sales zones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697480" y="3941064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97480" y="394106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66160" y="4005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4361688"/>
            <a:ext cx="4114800" cy="438912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5760" y="4361688"/>
            <a:ext cx="45720" cy="43891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439826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DimDate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02920" y="459943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 details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697480" y="4416552"/>
            <a:ext cx="822960" cy="310896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97480" y="44165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3,652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566160" y="4480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1097280"/>
            <a:ext cx="402336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54880" y="1097280"/>
            <a:ext cx="4023360" cy="731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in Dataset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4846320" y="1664208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16642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833872" y="166420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OrderDateKey → Year, Month, Quarter, Financial Calendar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846320" y="2176272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46320" y="2176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33872" y="21762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  ·  Order Quantity  ·  Discount 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2688336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5833872" y="268833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Standard Cost per unit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46320" y="3200400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833872" y="3200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Name  ·  Category  ·  Sub-Category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3712464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46320" y="3712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833872" y="37124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 ·  Region  ·  Demographics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846320" y="4224528"/>
            <a:ext cx="914400" cy="27432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6320" y="4224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833872" y="42245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 ·  Territory  ·  Group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1572768" cy="155448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960120"/>
            <a:ext cx="1572768" cy="731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155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$29.36M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56032" y="17556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2121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 – 2014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93392" y="960120"/>
            <a:ext cx="1572768" cy="155448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960120"/>
            <a:ext cx="1572768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1155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$12.08M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93392" y="17556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93392" y="2121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costs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30752" y="960120"/>
            <a:ext cx="1572768" cy="155448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0752" y="960120"/>
            <a:ext cx="1572768" cy="73152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11155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730752" y="17556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30752" y="2121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across years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68112" y="960120"/>
            <a:ext cx="1572768" cy="155448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68112" y="960120"/>
            <a:ext cx="1572768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1155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$17.28M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68112" y="17556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68112" y="2121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205472" y="960120"/>
            <a:ext cx="1572768" cy="155448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05472" y="960120"/>
            <a:ext cx="1572768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5472" y="1115568"/>
            <a:ext cx="15727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60,398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05472" y="175564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05472" y="212140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Sales Trend</a:t>
            </a:r>
            <a:endParaRPr lang="en-US" sz="14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274320" y="3154680"/>
          <a:ext cx="50292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1" name="Text 28"/>
          <p:cNvSpPr/>
          <p:nvPr/>
        </p:nvSpPr>
        <p:spPr>
          <a:xfrm>
            <a:off x="55778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Quarter-wise Sales</a:t>
            </a:r>
            <a:endParaRPr lang="en-US" sz="1400" dirty="0"/>
          </a:p>
        </p:txBody>
      </p:sp>
      <p:graphicFrame>
        <p:nvGraphicFramePr>
          <p:cNvPr id="32" name="Chart 1"/>
          <p:cNvGraphicFramePr/>
          <p:nvPr/>
        </p:nvGraphicFramePr>
        <p:xfrm>
          <a:off x="5394960" y="3127248"/>
          <a:ext cx="34747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3" name="Shape 2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Process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115568"/>
            <a:ext cx="731520" cy="7315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261872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01752" y="1993392"/>
            <a:ext cx="1115568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tables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746504" y="1115568"/>
            <a:ext cx="7315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4650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05456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5336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545336" y="1993392"/>
            <a:ext cx="1115568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63624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63624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6 tables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90088" y="1115568"/>
            <a:ext cx="731520" cy="731520"/>
          </a:xfrm>
          <a:prstGeom prst="ellipse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0088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749040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88920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88920" y="1993392"/>
            <a:ext cx="1115568" cy="64008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07208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07208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Cost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Profit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33672" y="1115568"/>
            <a:ext cx="73152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33672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992624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32504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032504" y="1993392"/>
            <a:ext cx="1115568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50792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50792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Fin. Calendar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77256" y="1115568"/>
            <a:ext cx="731520" cy="7315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77256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236208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76088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276088" y="1993392"/>
            <a:ext cx="1115568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94376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94376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Pie, Combo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20840" y="1115568"/>
            <a:ext cx="731520" cy="731520"/>
          </a:xfrm>
          <a:prstGeom prst="ellipse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479792" y="1481328"/>
            <a:ext cx="256032" cy="0"/>
          </a:xfrm>
          <a:prstGeom prst="line">
            <a:avLst/>
          </a:prstGeom>
          <a:noFill/>
          <a:ln w="19050">
            <a:solidFill>
              <a:srgbClr val="8A9B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19672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519672" y="1993392"/>
            <a:ext cx="1115568" cy="64008"/>
          </a:xfrm>
          <a:prstGeom prst="rect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37960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· Power BI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Tableau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7964424" y="1115568"/>
            <a:ext cx="731520" cy="7315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64424" y="11155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9" name="Shape 47"/>
          <p:cNvSpPr/>
          <p:nvPr/>
        </p:nvSpPr>
        <p:spPr>
          <a:xfrm>
            <a:off x="7763256" y="1993392"/>
            <a:ext cx="11155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763256" y="1993392"/>
            <a:ext cx="1115568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81544" y="2084832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81544" y="2816352"/>
            <a:ext cx="1078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conclusions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37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388620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Power Query + Pivot Tables + Charts  ·  Features: Yearwise &amp; Monthwise analysis, Combo chart, Slicers by Year &amp; Quarter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37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388620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Power BI Desktop  ·  Features: Interactive slicers (Region, Year, Quarter, Product), Map visual, KPI cards, Drill-through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64008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0" y="1371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868680"/>
            <a:ext cx="8686800" cy="388620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96112"/>
            <a:ext cx="8595360" cy="3822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482803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Tableau Desktop  ·  Features: Year &amp; Quarter filters, Countrywise map, Top 5 Products, Dynamic metric selector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560320" cy="384048"/>
          </a:xfrm>
          <a:prstGeom prst="rect">
            <a:avLst/>
          </a:prstGeom>
          <a:solidFill>
            <a:srgbClr val="3A4A6A"/>
          </a:solidFill>
          <a:ln w="12700">
            <a:solidFill>
              <a:srgbClr val="3A4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80360" y="1097280"/>
            <a:ext cx="201168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37760" y="1097280"/>
            <a:ext cx="2011680" cy="384048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95160" y="1097280"/>
            <a:ext cx="201168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10972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536192"/>
            <a:ext cx="2560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5361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80360" y="15361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35224" y="1536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15361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1536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5361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50024" y="1536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 conn.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993392"/>
            <a:ext cx="256032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19933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880360" y="19933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35224" y="1993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19933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1993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Model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95160" y="19933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50024" y="1993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/ Blending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450592"/>
            <a:ext cx="2560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24505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80360" y="24505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35224" y="2450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Formulas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24505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2450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95160" y="24505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0024" y="24505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Fields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907792"/>
            <a:ext cx="256032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9184" y="29077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880360" y="29077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35224" y="29077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/ Filters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937760" y="29077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29077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Filters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29077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0024" y="29077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/ Actions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364992"/>
            <a:ext cx="2560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" y="33649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80360" y="33649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35224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Charts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937760" y="33649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visuals + AI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95160" y="33649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0024" y="33649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Charts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3822192"/>
            <a:ext cx="256032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9184" y="38221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880360" y="38221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35224" y="3822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937760" y="38221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92624" y="3822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95160" y="3822192"/>
            <a:ext cx="2011680" cy="420624"/>
          </a:xfrm>
          <a:prstGeom prst="rect">
            <a:avLst/>
          </a:prstGeom>
          <a:solidFill>
            <a:srgbClr val="F4F6FB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50024" y="38221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Public/Server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74320" y="4279392"/>
            <a:ext cx="25603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9184" y="427939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880360" y="42793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35224" y="4279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937760" y="42793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92624" y="4279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995160" y="4279392"/>
            <a:ext cx="20116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50024" y="4279392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2336" y="1051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The Golden Year — 2013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" y="1417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was the peak performance year with $16.35M in sales, driven by strong product demand and geographic expansion.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960120"/>
            <a:ext cx="4206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74336" y="10515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Geographic Dominance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74336" y="14173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 led with ~$9.39M in sales, followed closely by Australia (~$9.06M). North America is the strongest region.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286000"/>
            <a:ext cx="4206240" cy="64008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8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🚴  Bikes Drive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2336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 category accounts for $28.32M (96.5%) of total sales. Mountain-200 series are the top-5 best-selling products.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86000"/>
            <a:ext cx="42062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23774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Balanced Demographics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74336" y="27432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split is almost equal: Male (50%) vs Female (49%), showing the brand has universal market appeal.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420624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703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Seasonal Patterns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" y="4069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is the strongest quarter (31% of sales). Sales dip in Q1 and recover steadily through the year.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611880"/>
            <a:ext cx="4206240" cy="1188720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3611880"/>
            <a:ext cx="420624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4336" y="37033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Healthy Profit Margin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74336" y="40690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41.15% profit margin maintained across the period, with $12.08M profit on $29.36M in total revenue.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54864" cy="11430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70432"/>
            <a:ext cx="420624" cy="42062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1517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OrderDateKey was stored as an integer (e.g. 20130415). Converting it to a proper date field required custom formulas across all three tools.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54864" cy="11430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170432"/>
            <a:ext cx="420624" cy="42062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170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11887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Merging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517904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Fact tables and joining multiple Dimension tables required careful key mapping to avoid many-to-many relationship errors.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591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359152"/>
            <a:ext cx="54864" cy="1143000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432304"/>
            <a:ext cx="420624" cy="420624"/>
          </a:xfrm>
          <a:prstGeom prst="rect">
            <a:avLst/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Calendar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96112" y="27797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custom Financial Year (April = Month 1 through March = Month 12) required conditional logic in all tools.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35915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359152"/>
            <a:ext cx="54864" cy="1143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2432304"/>
            <a:ext cx="420624" cy="42062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4323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68112" y="245059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Axis Formatting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68112" y="2779776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the combo chart (Sales + Production Cost) with a dual axis required specific chart formatting in each tool.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62102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621024"/>
            <a:ext cx="54864" cy="11430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048" y="3694176"/>
            <a:ext cx="420624" cy="42062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6112" y="3712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at Scale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96112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merged dataset with 60K+ rows required query optimization in Power Query and Tableau to maintain dashboard responsiveness.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62102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621024"/>
            <a:ext cx="54864" cy="1143000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3694176"/>
            <a:ext cx="420624" cy="420624"/>
          </a:xfrm>
          <a:prstGeom prst="rect">
            <a:avLst/>
          </a:prstGeom>
          <a:solidFill>
            <a:srgbClr val="2E4090"/>
          </a:solidFill>
          <a:ln w="12700">
            <a:solidFill>
              <a:srgbClr val="2E4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3694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68112" y="371246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3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Consistency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68112" y="404164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same KPI values appeared consistently across Excel, Power BI, and Tableau required careful formula alignment.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8"/>
                </a:solidFill>
              </a:rPr>
              <a:t>Adventure Works  |  Sales Analysis 2010–2014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9264"/>
            <a:ext cx="8595360" cy="896112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9264"/>
            <a:ext cx="64008" cy="8961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0241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Positioning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" y="135331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reveal where Adventure Works outperforms competitors and where strategic improvement is needed, enabling stronger positioning in global markets.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8595360" cy="896112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75104"/>
            <a:ext cx="64008" cy="8961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0299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235915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analysis across products allows pricing adjustments to ensure sustainable profitability without impacting customer demand.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80944"/>
            <a:ext cx="8595360" cy="896112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80944"/>
            <a:ext cx="64008" cy="8961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035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36499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product performance visibility enables smarter allocation of marketing budgets, workforce, and production capacity.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986784"/>
            <a:ext cx="8595360" cy="896112"/>
          </a:xfrm>
          <a:prstGeom prst="rect">
            <a:avLst/>
          </a:prstGeom>
          <a:solidFill>
            <a:srgbClr val="243570"/>
          </a:solidFill>
          <a:ln w="12700">
            <a:solidFill>
              <a:srgbClr val="2E4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986784"/>
            <a:ext cx="64008" cy="8961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4041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4370832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high-value customers enables targeted promotions and loyalty programs, improving retention and long-term revenue growth.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371600" y="4828032"/>
            <a:ext cx="6400800" cy="182880"/>
          </a:xfrm>
          <a:prstGeom prst="rect">
            <a:avLst/>
          </a:prstGeom>
          <a:solidFill>
            <a:srgbClr val="243570"/>
          </a:solidFill>
          <a:ln w="12700">
            <a:solidFill>
              <a:srgbClr val="2435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79145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Cycles is now equipped to enhance profitability, optimize operations, and drive sustainable global growth through data-backed strategic decisions.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2743200" y="2606040"/>
            <a:ext cx="3657600" cy="4572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8D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Works Cycles  |  Sales Performance Analysis  |  2010 – 2014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337560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3337560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4F83CC"/>
          </a:solidFill>
          <a:ln w="12700">
            <a:solidFill>
              <a:srgbClr val="4F83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3337560"/>
            <a:ext cx="1417320" cy="438912"/>
          </a:xfrm>
          <a:prstGeom prst="roundRect">
            <a:avLst>
              <a:gd name="adj" fmla="val 20833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33375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– 5  | Adabala Venkatesh Durga Sai | Prajakta Koli  | Shraddha </a:t>
            </a:r>
            <a:r>
              <a:rPr lang="en-US" sz="1100" b="1" dirty="0" err="1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Muneshwar</a:t>
            </a:r>
            <a:r>
              <a:rPr lang="en-US" sz="1100" b="1" dirty="0">
                <a:solidFill>
                  <a:srgbClr val="8A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Rohit Yadav | Dasari Venkatesh 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1074</Words>
  <Application>Microsoft Office PowerPoint</Application>
  <PresentationFormat>On-screen Show (16:9)</PresentationFormat>
  <Paragraphs>250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Sales Analysis</dc:title>
  <dc:subject>PptxGenJS Presentation</dc:subject>
  <dc:creator>PptxGenJS</dc:creator>
  <cp:lastModifiedBy>Hp</cp:lastModifiedBy>
  <cp:revision>3</cp:revision>
  <dcterms:created xsi:type="dcterms:W3CDTF">2026-04-04T16:50:43Z</dcterms:created>
  <dcterms:modified xsi:type="dcterms:W3CDTF">2026-04-05T07:19:04Z</dcterms:modified>
</cp:coreProperties>
</file>